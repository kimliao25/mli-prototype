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34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高齡錄音系統輔助宣讀專案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需求訪談｜第二場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19933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P-1 錄音作業介面　／　P-3 案件查詢介面　／　B-1 案件管理作業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5029200" cy="36576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52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2026.05.26</a:t>
            </a:r>
            <a:pPr indent="0" marL="0">
              <a:buNone/>
            </a:pPr>
            <a:r>
              <a:rPr lang="en-US" sz="1300" dirty="0">
                <a:solidFill>
                  <a:srgbClr val="5B6FAD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  ｜  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資訊單位 ＋ USER 單位（業務員 / 內勤人員）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本場目標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69080" cy="105156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280160"/>
            <a:ext cx="402336" cy="402336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確認業務員錄音完整流程與邊界條件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65192" y="1280160"/>
            <a:ext cx="402336" cy="402336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2161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確認案件查詢與操作權限範圍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4069080" cy="105156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514600"/>
            <a:ext cx="402336" cy="402336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45059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確認內勤審核流程（含照會機制）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2194560"/>
            <a:ext cx="4069080" cy="105156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2514600"/>
            <a:ext cx="402336" cy="402336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45059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釐清審核狀態定義與流轉規則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8E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系統操作細節將搭配 Prototype 現場確認，本場以流程確認與待釐清問題為主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使用者角色總覽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77640" cy="352044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3977640" cy="502920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963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系統入口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1847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iPad — 行銷系統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212140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Web — 桌機瀏覽器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5054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963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主要任務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277977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建立錄音案件（取號）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305409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逐題引導錄音 / 自動播稿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332841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查詢案件狀態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60273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補錄 / 重傳音檔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3977640" cy="352044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960120"/>
            <a:ext cx="3977640" cy="50292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6012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內勤人員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73752" y="1572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系統入口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5192" y="1847088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後台網頁（公司內網）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2311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主要任務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65192" y="250545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審核音檔（退回補正 / 通過）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5192" y="277977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案件查詢與追蹤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65192" y="305409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手動上傳補件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65192" y="332841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· 案件清單匯出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錄音核心流程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932688"/>
            <a:ext cx="1444752" cy="2468880"/>
          </a:xfrm>
          <a:prstGeom prst="rect">
            <a:avLst/>
          </a:prstGeom>
          <a:solidFill>
            <a:srgbClr val="4963FA"/>
          </a:solidFill>
          <a:ln w="6350">
            <a:solidFill>
              <a:srgbClr val="4963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" y="113385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6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1700784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建立案件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2359152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帶入商品文稿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業務員確認資訊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39112" y="2167128"/>
            <a:ext cx="182880" cy="0"/>
          </a:xfrm>
          <a:prstGeom prst="line">
            <a:avLst/>
          </a:prstGeom>
          <a:noFill/>
          <a:ln w="19050">
            <a:solidFill>
              <a:srgbClr val="4963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932688"/>
            <a:ext cx="1444752" cy="2468880"/>
          </a:xfrm>
          <a:prstGeom prst="rect">
            <a:avLst/>
          </a:prstGeom>
          <a:solidFill>
            <a:srgbClr val="F1F3FE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4056" y="1133856"/>
            <a:ext cx="420624" cy="420624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34056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95144" y="1700784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逐題引導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95144" y="2359152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業務員自錄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或自動播稿 (TTS)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66744" y="2167128"/>
            <a:ext cx="182880" cy="0"/>
          </a:xfrm>
          <a:prstGeom prst="line">
            <a:avLst/>
          </a:prstGeom>
          <a:noFill/>
          <a:ln w="19050">
            <a:solidFill>
              <a:srgbClr val="4963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9624" y="932688"/>
            <a:ext cx="1444752" cy="2468880"/>
          </a:xfrm>
          <a:prstGeom prst="rect">
            <a:avLst/>
          </a:prstGeom>
          <a:solidFill>
            <a:srgbClr val="F1F3FE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1688" y="1133856"/>
            <a:ext cx="420624" cy="420624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22776" y="1700784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即時上傳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22776" y="2359152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每題完成即上傳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斷線保護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94376" y="2167128"/>
            <a:ext cx="182880" cy="0"/>
          </a:xfrm>
          <a:prstGeom prst="line">
            <a:avLst/>
          </a:prstGeom>
          <a:noFill/>
          <a:ln w="19050">
            <a:solidFill>
              <a:srgbClr val="4963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77256" y="932688"/>
            <a:ext cx="1444752" cy="2468880"/>
          </a:xfrm>
          <a:prstGeom prst="rect">
            <a:avLst/>
          </a:prstGeom>
          <a:solidFill>
            <a:srgbClr val="F1F3FE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133856"/>
            <a:ext cx="420624" cy="420624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0408" y="1700784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送出檢核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0408" y="2359152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確認全部題卡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已錄或已跳過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22008" y="2167128"/>
            <a:ext cx="182880" cy="0"/>
          </a:xfrm>
          <a:prstGeom prst="line">
            <a:avLst/>
          </a:prstGeom>
          <a:noFill/>
          <a:ln w="19050">
            <a:solidFill>
              <a:srgbClr val="4963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04888" y="932688"/>
            <a:ext cx="1444752" cy="2468880"/>
          </a:xfrm>
          <a:prstGeom prst="rect">
            <a:avLst/>
          </a:prstGeom>
          <a:solidFill>
            <a:srgbClr val="2B3467"/>
          </a:solidFill>
          <a:ln w="6350">
            <a:solidFill>
              <a:srgbClr val="2B34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6952" y="113385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6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1700784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合併送審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2359152"/>
            <a:ext cx="1298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後端合併音檔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進入審核佇列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602736"/>
            <a:ext cx="8229600" cy="566928"/>
          </a:xfrm>
          <a:prstGeom prst="rect">
            <a:avLst/>
          </a:prstGeom>
          <a:solidFill>
            <a:srgbClr val="F1F3FE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36027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963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題卡狀態：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645920" y="3813048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未錄音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3813048"/>
            <a:ext cx="201168" cy="201168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0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錄音中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120640" y="381304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已錄音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0" y="3813048"/>
            <a:ext cx="201168" cy="20116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37856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已跳過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需確認事項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0" y="301752"/>
            <a:ext cx="138988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3017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 確認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5097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5097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950976"/>
            <a:ext cx="7891272" cy="804672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0058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建立案件時畫面顯示哪些欄位？商品資訊如何帶入？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13716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建議書系統自動帶入 vs 業務員手動輸入，兩種通路是否有差異？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1911096"/>
            <a:ext cx="7891272" cy="80467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9659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送審後的案件狀態有哪些種類？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233172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目前設計：草稿 ／ 審核中 ／ 退回補正 ／ 審核通過 ／ 逾期 — 請確認是否完整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2871216"/>
            <a:ext cx="7891272" cy="804672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29260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即時儲存失敗（網路中斷）時，使用者看到什麼提示？是否自動重試？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2918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題卡狀態應如何標示，讓業務員明確知道哪題尚未成功儲存？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3133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3133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3831336"/>
            <a:ext cx="7891272" cy="80467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886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題卡「播放」(F-105) 播的是單題音檔，還是完整合併音檔？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42519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此問題同時影響 P-3 的 F-303 播放設計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業務員案件查詢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0" cy="73152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70432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70432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80160" y="99669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案件清單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3441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錄音編號、商品、錄音對象、審核狀態、進度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020824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20824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0" y="18470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案件內容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194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檢視案件詳細資訊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60904"/>
            <a:ext cx="4114800" cy="73152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871216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871216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播放音檔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044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聽取已錄製的音檔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721608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21608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80160" y="35478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案件搜尋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38953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錄音編號、保單號、商品、要保人等關鍵字篩選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4114800" cy="73152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3752" y="1170432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1170432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23560" y="99669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修改案件資訊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13441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限特定欄位（範圍待確認）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810512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73752" y="2020824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2020824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18470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刪除音檔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2194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退回 / 未審核音檔刪除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660904"/>
            <a:ext cx="4114800" cy="731520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2871216"/>
            <a:ext cx="658368" cy="3017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871216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F-307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23560" y="2697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上傳音檔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23560" y="3044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重新上傳或 Web 通路手動上傳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需確認事項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0" y="301752"/>
            <a:ext cx="138988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3017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 確認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95097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5097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" y="950976"/>
            <a:ext cx="7891272" cy="804672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0058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F-305 業務員可修改哪些欄位？修改後是否需重新送審？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13716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修改範圍需明確定義，避免審核後業務員任意更動關鍵資訊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1109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1911096"/>
            <a:ext cx="7891272" cy="80467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19659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F-306 / F-307 刪除與重傳的觸發條件為何？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7552" y="233172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僅退回補正可操作？還是審核中也允許自行刪除並重傳？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7121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2871216"/>
            <a:ext cx="7891272" cy="804672"/>
          </a:xfrm>
          <a:prstGeom prst="rect">
            <a:avLst/>
          </a:prstGeom>
          <a:solidFill>
            <a:srgbClr val="F1F3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292608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F-303 播放是完整合併音檔，還是可選分題播放？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32918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 P-1 F-105（單題播放）設計需一致，確認業務員的聆聽需求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31336"/>
            <a:ext cx="384048" cy="80467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31336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3831336"/>
            <a:ext cx="7891272" cy="80467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886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案件清單需要分頁嗎？業務員平均管理多少件案件？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425196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件數規模影響前端效能設計，請提供預估件數或歷史數量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內勤案件管理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114800" cy="7315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70432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70432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80160" y="99669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案件追蹤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3441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依地區角色過濾，顯示案件基本資訊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170432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70432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23560" y="99669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案件搜尋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3441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保單號、錄音編號、日期區間等多條件搜尋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4114800" cy="7315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020824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020824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80160" y="184708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檢視與編輯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194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逐字稿、AI 比對、原始文稿（可編輯特定欄位）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810512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73752" y="2020824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020824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23560" y="18470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審核案件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1945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播放音檔 → 退回補正（含原因）或 審核通過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53528" y="1874520"/>
            <a:ext cx="1170432" cy="256032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53528" y="18745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照會流程待確認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60904"/>
            <a:ext cx="4114800" cy="7315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2871216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2871216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280160" y="2697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建立案件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3044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與前台 F-101 相同功能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660904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73752" y="2871216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871216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23560" y="2697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手動上傳音檔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23560" y="3044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補件 / 特殊案件，上傳後觸發 STT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511296"/>
            <a:ext cx="4114800" cy="73152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" y="3721608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" y="3721608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280160" y="35478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重新合併音檔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280160" y="38953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需特定權限才可執行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511296"/>
            <a:ext cx="4114800" cy="73152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3752" y="3721608"/>
            <a:ext cx="658368" cy="3017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721608"/>
            <a:ext cx="6583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F-108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23560" y="35478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案件清單匯出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623560" y="38953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依時間區間匯出案件清單（行政統計用）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53528" y="3575304"/>
            <a:ext cx="1170432" cy="256032"/>
          </a:xfrm>
          <a:prstGeom prst="rect">
            <a:avLst/>
          </a:prstGeom>
          <a:solidFill>
            <a:srgbClr val="E0F2FE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53528" y="357530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Nice-to-have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案件狀態流轉（待確認）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280160" cy="530352"/>
          </a:xfrm>
          <a:prstGeom prst="rect">
            <a:avLst/>
          </a:prstGeom>
          <a:solidFill>
            <a:srgbClr val="F3F4F6"/>
          </a:solidFill>
          <a:ln w="12700">
            <a:solidFill>
              <a:srgbClr val="8C8E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草稿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1280160" cy="530352"/>
          </a:xfrm>
          <a:prstGeom prst="rect">
            <a:avLst/>
          </a:prstGeom>
          <a:solidFill>
            <a:srgbClr val="FFF5DE"/>
          </a:solidFill>
          <a:ln w="12700">
            <a:solidFill>
              <a:srgbClr val="B26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4173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審核中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1280160" cy="530352"/>
          </a:xfrm>
          <a:prstGeom prst="rect">
            <a:avLst/>
          </a:prstGeom>
          <a:solidFill>
            <a:srgbClr val="E7F7E5"/>
          </a:solidFill>
          <a:ln w="12700">
            <a:solidFill>
              <a:srgbClr val="3A7C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173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7C3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審核通過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417320"/>
            <a:ext cx="16459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4173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核保(BPM)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37360" y="1682496"/>
            <a:ext cx="594360" cy="0"/>
          </a:xfrm>
          <a:prstGeom prst="line">
            <a:avLst/>
          </a:prstGeom>
          <a:noFill/>
          <a:ln w="19050">
            <a:solidFill>
              <a:srgbClr val="4963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463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963F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業務員送出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1682496"/>
            <a:ext cx="109728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463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審核通過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682496"/>
            <a:ext cx="86868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4630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送核保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514600"/>
            <a:ext cx="1280160" cy="530352"/>
          </a:xfrm>
          <a:prstGeom prst="rect">
            <a:avLst/>
          </a:prstGeom>
          <a:solidFill>
            <a:srgbClr val="FFECEC"/>
          </a:solidFill>
          <a:ln w="12700">
            <a:solidFill>
              <a:srgbClr val="C437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5146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37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退回補正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1947672"/>
            <a:ext cx="0" cy="566928"/>
          </a:xfrm>
          <a:prstGeom prst="line">
            <a:avLst/>
          </a:prstGeom>
          <a:noFill/>
          <a:ln w="19050">
            <a:solidFill>
              <a:srgbClr val="C437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993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37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退回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71800" y="2779776"/>
            <a:ext cx="1737360" cy="0"/>
          </a:xfrm>
          <a:prstGeom prst="line">
            <a:avLst/>
          </a:prstGeom>
          <a:noFill/>
          <a:ln w="12700">
            <a:solidFill>
              <a:srgbClr val="C43737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2560320" y="28163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37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補錄後重新送出 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31720" y="841248"/>
            <a:ext cx="1280160" cy="420624"/>
          </a:xfrm>
          <a:prstGeom prst="rect">
            <a:avLst/>
          </a:prstGeom>
          <a:solidFill>
            <a:srgbClr val="ECE8E4"/>
          </a:solidFill>
          <a:ln w="12700">
            <a:solidFill>
              <a:srgbClr val="564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8412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44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逾期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71800" y="1417320"/>
            <a:ext cx="0" cy="-1554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12801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超時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64992"/>
            <a:ext cx="8229600" cy="566928"/>
          </a:xfrm>
          <a:prstGeom prst="rect">
            <a:avLst/>
          </a:prstGeom>
          <a:solidFill>
            <a:srgbClr val="FFF8E7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3649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待確認：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照會狀態是獨立的 status 還是 flag？誰可發起？業務員如何收到通知？是否有期限設定？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目前設計 5 種狀態（草稿 ／ 審核中 ／ 退回補正 ／ 審核通過 ／ 逾期）｜照會機制待本場訪談確認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2560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需確認事項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126480" y="301752"/>
            <a:ext cx="1389888" cy="402336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30175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 確認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35240" y="301752"/>
            <a:ext cx="1051560" cy="402336"/>
          </a:xfrm>
          <a:prstGeom prst="rect">
            <a:avLst/>
          </a:prstGeom>
          <a:solidFill>
            <a:srgbClr val="EFF6FF"/>
          </a:solidFill>
          <a:ln w="635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017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IT 確認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950976"/>
            <a:ext cx="384048" cy="64008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50976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950976"/>
            <a:ext cx="7891272" cy="6400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98755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照會（F-104）完整流程為何？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7552" y="12984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誰可發起？業務員如何收到通知？是否有照會期限設定？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19072"/>
            <a:ext cx="384048" cy="64008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19072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" y="1719072"/>
            <a:ext cx="7891272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17556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地區過濾邏輯：跨地區主管是否有跨區查看權限？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20665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跨地區稽核或主管角色的可見範圍需明確定義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87168"/>
            <a:ext cx="384048" cy="64008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87168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" y="2487168"/>
            <a:ext cx="7891272" cy="6400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25237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F-103 內勤可編輯哪些欄位？編輯後是否留存 Log？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283464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B-5 操作 Log 已規劃自動記錄，需確認哪些欄位允許手動修改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55264"/>
            <a:ext cx="384048" cy="64008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55264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" y="3255264"/>
            <a:ext cx="7891272" cy="640080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2918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F-106 手動上傳適用場景？是否需主管審批？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36027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補件 vs 特殊案件的操作流程是否一致？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384048" cy="64008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233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41248" y="4023360"/>
            <a:ext cx="7891272" cy="64008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40599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F-108 案件清單匯出：欄位範圍？格式 xlsx or csv？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87552" y="43708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供行政統計使用，需確認目標受眾與使用工具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46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 Items 彙總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411480" cy="310896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804672"/>
            <a:ext cx="5440680" cy="310896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80467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問題摘要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804672"/>
            <a:ext cx="1261872" cy="310896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804672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571232" y="804672"/>
            <a:ext cx="1161288" cy="310896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804672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負責確認方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115568"/>
            <a:ext cx="827532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115568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3544" y="1115568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建立案件欄位與資訊帶入方式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1179576"/>
            <a:ext cx="1152144" cy="210312"/>
          </a:xfrm>
          <a:prstGeom prst="rect">
            <a:avLst/>
          </a:prstGeom>
          <a:solidFill>
            <a:srgbClr val="E8ED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1179576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6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626096" y="1179576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6096" y="117957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1472184"/>
            <a:ext cx="82753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3544" y="1472184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審核狀態完整定義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64224" y="1536192"/>
            <a:ext cx="1152144" cy="210312"/>
          </a:xfrm>
          <a:prstGeom prst="rect">
            <a:avLst/>
          </a:prstGeom>
          <a:solidFill>
            <a:srgbClr val="E8ED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1536192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6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26096" y="1536192"/>
            <a:ext cx="1051560" cy="210312"/>
          </a:xfrm>
          <a:prstGeom prst="rect">
            <a:avLst/>
          </a:prstGeom>
          <a:solidFill>
            <a:srgbClr val="F0FDF4"/>
          </a:solidFill>
          <a:ln w="381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6096" y="153619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USER+IT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1828800"/>
            <a:ext cx="827532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2880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3544" y="1828800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即時儲存失敗提示與重試機制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64224" y="1892808"/>
            <a:ext cx="1152144" cy="210312"/>
          </a:xfrm>
          <a:prstGeom prst="rect">
            <a:avLst/>
          </a:prstGeom>
          <a:solidFill>
            <a:srgbClr val="E8ED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1892808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6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626096" y="1892808"/>
            <a:ext cx="1051560" cy="210312"/>
          </a:xfrm>
          <a:prstGeom prst="rect">
            <a:avLst/>
          </a:prstGeom>
          <a:solidFill>
            <a:srgbClr val="EFF6FF"/>
          </a:solidFill>
          <a:ln w="3810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6096" y="189280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185416"/>
            <a:ext cx="82753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18541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23544" y="2185416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F-105 播放單題 vs 合併音檔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64224" y="2249424"/>
            <a:ext cx="1152144" cy="210312"/>
          </a:xfrm>
          <a:prstGeom prst="rect">
            <a:avLst/>
          </a:prstGeom>
          <a:solidFill>
            <a:srgbClr val="E8ED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249424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963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P-1/P-3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26096" y="2249424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224942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7200" y="2542032"/>
            <a:ext cx="827532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542032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544" y="2542032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F-305 可修改欄位與重審規則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64224" y="2606040"/>
            <a:ext cx="1152144" cy="210312"/>
          </a:xfrm>
          <a:prstGeom prst="rect">
            <a:avLst/>
          </a:prstGeom>
          <a:solidFill>
            <a:srgbClr val="EDE8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2606040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626096" y="2606040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6096" y="260604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2898648"/>
            <a:ext cx="82753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898648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23544" y="2898648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F-306/307 刪除與重傳觸發條件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64224" y="2962656"/>
            <a:ext cx="1152144" cy="210312"/>
          </a:xfrm>
          <a:prstGeom prst="rect">
            <a:avLst/>
          </a:prstGeom>
          <a:solidFill>
            <a:srgbClr val="EDE8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64224" y="2962656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P-3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626096" y="2962656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6096" y="296265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255264"/>
            <a:ext cx="827532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255264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23544" y="3255264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照會流程（發起 / 通知 / 期限）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64224" y="3319272"/>
            <a:ext cx="1152144" cy="210312"/>
          </a:xfrm>
          <a:prstGeom prst="rect">
            <a:avLst/>
          </a:prstGeom>
          <a:solidFill>
            <a:srgbClr val="E0E7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64224" y="3319272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3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626096" y="3319272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26096" y="331927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3611880"/>
            <a:ext cx="82753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361188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23544" y="3611880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地區過濾與跨區查看權限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64224" y="3675888"/>
            <a:ext cx="1152144" cy="210312"/>
          </a:xfrm>
          <a:prstGeom prst="rect">
            <a:avLst/>
          </a:prstGeom>
          <a:solidFill>
            <a:srgbClr val="E0E7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64224" y="3675888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3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626096" y="3675888"/>
            <a:ext cx="1051560" cy="210312"/>
          </a:xfrm>
          <a:prstGeom prst="rect">
            <a:avLst/>
          </a:prstGeom>
          <a:solidFill>
            <a:srgbClr val="F0FDF4"/>
          </a:solidFill>
          <a:ln w="3810">
            <a:solidFill>
              <a:srgbClr val="BBF7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26096" y="3675888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USER+IT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7200" y="3968496"/>
            <a:ext cx="8275320" cy="33832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9684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23544" y="3968496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F-103 可編輯欄位與 Log 記錄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364224" y="4032504"/>
            <a:ext cx="1152144" cy="210312"/>
          </a:xfrm>
          <a:prstGeom prst="rect">
            <a:avLst/>
          </a:prstGeom>
          <a:solidFill>
            <a:srgbClr val="E0E7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64224" y="4032504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3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626096" y="4032504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26096" y="4032504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457200" y="4325112"/>
            <a:ext cx="82753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325112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23544" y="4325112"/>
            <a:ext cx="5349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F-108 匯出欄位與格式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364224" y="4389120"/>
            <a:ext cx="1152144" cy="210312"/>
          </a:xfrm>
          <a:prstGeom prst="rect">
            <a:avLst/>
          </a:prstGeom>
          <a:solidFill>
            <a:srgbClr val="E0E7FF"/>
          </a:solidFill>
          <a:ln w="3810">
            <a:solidFill>
              <a:srgbClr val="A5B4F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64224" y="4389120"/>
            <a:ext cx="11521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346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626096" y="4389120"/>
            <a:ext cx="1051560" cy="210312"/>
          </a:xfrm>
          <a:prstGeom prst="rect">
            <a:avLst/>
          </a:prstGeom>
          <a:solidFill>
            <a:srgbClr val="FEF3C7"/>
          </a:solidFill>
          <a:ln w="3810">
            <a:solidFill>
              <a:srgbClr val="FCD34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26096" y="4389120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34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後續行動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3931920" cy="3291840"/>
          </a:xfrm>
          <a:prstGeom prst="rect">
            <a:avLst/>
          </a:prstGeom>
          <a:solidFill>
            <a:srgbClr val="1C2457"/>
          </a:solidFill>
          <a:ln w="6350">
            <a:solidFill>
              <a:srgbClr val="3D4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Action Items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92608" cy="292608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536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USER：確認審核狀態完整定義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42416" y="1865376"/>
            <a:ext cx="822960" cy="219456"/>
          </a:xfrm>
          <a:prstGeom prst="rect">
            <a:avLst/>
          </a:prstGeom>
          <a:solidFill>
            <a:srgbClr val="2D3A6B"/>
          </a:solidFill>
          <a:ln w="6350">
            <a:solidFill>
              <a:srgbClr val="496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8653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2377440"/>
            <a:ext cx="292608" cy="292608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2286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USER：確認照會流程規格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42416" y="2615184"/>
            <a:ext cx="822960" cy="219456"/>
          </a:xfrm>
          <a:prstGeom prst="rect">
            <a:avLst/>
          </a:prstGeom>
          <a:solidFill>
            <a:srgbClr val="2D3A6B"/>
          </a:solidFill>
          <a:ln w="6350">
            <a:solidFill>
              <a:srgbClr val="4963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61518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3127248"/>
            <a:ext cx="292608" cy="292608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" y="3035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USER：確認可修改欄位與刪除條件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2416" y="3364992"/>
            <a:ext cx="822960" cy="219456"/>
          </a:xfrm>
          <a:prstGeom prst="rect">
            <a:avLst/>
          </a:prstGeom>
          <a:solidFill>
            <a:srgbClr val="2D3A6B"/>
          </a:solidFill>
          <a:ln w="6350">
            <a:solidFill>
              <a:srgbClr val="4963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3649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" y="3877056"/>
            <a:ext cx="292608" cy="292608"/>
          </a:xfrm>
          <a:prstGeom prst="ellipse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2416" y="37856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整合雙方意見更新 Funcmap v2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2416" y="4114800"/>
            <a:ext cx="822960" cy="219456"/>
          </a:xfrm>
          <a:prstGeom prst="rect">
            <a:avLst/>
          </a:prstGeom>
          <a:solidFill>
            <a:srgbClr val="2D3A6B"/>
          </a:solidFill>
          <a:ln w="6350">
            <a:solidFill>
              <a:srgbClr val="4963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41148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下週一前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960120"/>
            <a:ext cx="3977640" cy="3291840"/>
          </a:xfrm>
          <a:prstGeom prst="rect">
            <a:avLst/>
          </a:prstGeom>
          <a:solidFill>
            <a:srgbClr val="1C2457"/>
          </a:solidFill>
          <a:ln w="6350">
            <a:solidFill>
              <a:srgbClr val="3D4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B4F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第三場訪談預告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64608" y="1572768"/>
            <a:ext cx="530352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P-2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15910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語音轉譯引擎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186537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TTS 預生成 / 多語言 / 語速調整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64608" y="2487168"/>
            <a:ext cx="530352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487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04688" y="25054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語音分析引擎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04688" y="277977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STT 轉文字 / 語者辨識 / 比對報告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64608" y="3401568"/>
            <a:ext cx="530352" cy="530352"/>
          </a:xfrm>
          <a:prstGeom prst="rect">
            <a:avLst/>
          </a:prstGeom>
          <a:solidFill>
            <a:srgbClr val="4963FA"/>
          </a:solidFill>
          <a:ln w="12700">
            <a:solidFill>
              <a:srgbClr val="4963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4015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B-1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04688" y="34198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案件管理（儀表板）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04688" y="369417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DB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管理者統計視圖 / KPI 指標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B3467"/>
          </a:solidFill>
          <a:ln w="12700">
            <a:solidFill>
              <a:srgbClr val="2B34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892040"/>
            <a:ext cx="6858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MLI 高齡錄音系統｜需求訪談 第二場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863840" y="4892040"/>
            <a:ext cx="10058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需求訪談 第二場 - MLI 高齡錄音系統</dc:title>
  <dc:subject>PptxGenJS Presentation</dc:subject>
  <dc:creator>PptxGenJS</dc:creator>
  <cp:lastModifiedBy>PptxGenJS</cp:lastModifiedBy>
  <cp:revision>1</cp:revision>
  <dcterms:created xsi:type="dcterms:W3CDTF">2026-05-25T09:19:48Z</dcterms:created>
  <dcterms:modified xsi:type="dcterms:W3CDTF">2026-05-25T09:19:48Z</dcterms:modified>
</cp:coreProperties>
</file>